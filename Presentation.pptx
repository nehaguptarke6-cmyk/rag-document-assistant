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8.png"/><Relationship Id="rId7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56059" y="4428976"/>
            <a:ext cx="10668000" cy="1066800"/>
          </a:xfrm>
          <a:prstGeom prst="roundRect">
            <a:avLst>
              <a:gd name="adj" fmla="val 12500"/>
            </a:avLst>
          </a:prstGeom>
          <a:solidFill>
            <a:srgbClr val="111A31"/>
          </a:solidFill>
          <a:ln w="9525">
            <a:solidFill>
              <a:srgbClr val="1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6038701"/>
            <a:ext cx="10668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15400" y="533400"/>
            <a:ext cx="2514600" cy="238125"/>
          </a:xfrm>
          <a:prstGeom prst="roundRect">
            <a:avLst>
              <a:gd name="adj" fmla="val 48000"/>
            </a:avLst>
          </a:prstGeom>
          <a:solidFill>
            <a:srgbClr val="102D41"/>
          </a:solidFill>
          <a:ln w="9525">
            <a:solidFill>
              <a:srgbClr val="144F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6038701"/>
            <a:ext cx="10668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2000" y="3377356"/>
            <a:ext cx="685800" cy="276225"/>
          </a:xfrm>
          <a:prstGeom prst="roundRect">
            <a:avLst>
              <a:gd name="adj" fmla="val 50000"/>
            </a:avLst>
          </a:prstGeom>
          <a:solidFill>
            <a:srgbClr val="152648"/>
          </a:solidFill>
          <a:ln w="9525">
            <a:solidFill>
              <a:srgbClr val="1E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43050" y="3377356"/>
            <a:ext cx="790575" cy="276225"/>
          </a:xfrm>
          <a:prstGeom prst="roundRect">
            <a:avLst>
              <a:gd name="adj" fmla="val 50000"/>
            </a:avLst>
          </a:prstGeom>
          <a:solidFill>
            <a:srgbClr val="113247"/>
          </a:solidFill>
          <a:ln w="9525">
            <a:solidFill>
              <a:srgbClr val="155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28875" y="3377356"/>
            <a:ext cx="904875" cy="276225"/>
          </a:xfrm>
          <a:prstGeom prst="roundRect">
            <a:avLst>
              <a:gd name="adj" fmla="val 50000"/>
            </a:avLst>
          </a:prstGeom>
          <a:solidFill>
            <a:srgbClr val="252848"/>
          </a:solidFill>
          <a:ln w="9525">
            <a:solidFill>
              <a:srgbClr val="443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29000" y="3377356"/>
            <a:ext cx="866775" cy="276225"/>
          </a:xfrm>
          <a:prstGeom prst="roundRect">
            <a:avLst>
              <a:gd name="adj" fmla="val 50000"/>
            </a:avLst>
          </a:prstGeom>
          <a:solidFill>
            <a:srgbClr val="152648"/>
          </a:solidFill>
          <a:ln w="9525">
            <a:solidFill>
              <a:srgbClr val="1E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91025" y="3377356"/>
            <a:ext cx="1028700" cy="276225"/>
          </a:xfrm>
          <a:prstGeom prst="roundRect">
            <a:avLst>
              <a:gd name="adj" fmla="val 50000"/>
            </a:avLst>
          </a:prstGeom>
          <a:solidFill>
            <a:srgbClr val="113247"/>
          </a:solidFill>
          <a:ln w="9525">
            <a:solidFill>
              <a:srgbClr val="155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14975" y="3377356"/>
            <a:ext cx="771525" cy="276225"/>
          </a:xfrm>
          <a:prstGeom prst="roundRect">
            <a:avLst>
              <a:gd name="adj" fmla="val 50000"/>
            </a:avLst>
          </a:prstGeom>
          <a:solidFill>
            <a:srgbClr val="252848"/>
          </a:solidFill>
          <a:ln w="9525">
            <a:solidFill>
              <a:srgbClr val="443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66737"/>
            <a:ext cx="2190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4565153"/>
            <a:ext cx="1714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059" y="4608016"/>
            <a:ext cx="353616" cy="3143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5000051"/>
            <a:ext cx="381000" cy="4354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48750" y="571500"/>
            <a:ext cx="23431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2D3EE"/>
                </a:solidFill>
                <a:latin typeface="Plus Jakarta Sans"/>
              </a:rPr>
              <a:t>Advanced Data Analytics &amp; Generative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640234"/>
            <a:ext cx="970121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8FAFC"/>
                </a:solidFill>
                <a:latin typeface="Plus Jakarta Sans"/>
              </a:rPr>
              <a:t>RAG-Based Intelligent Document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43956"/>
            <a:ext cx="11430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Ask Questions About Your Documents and Get Context-Aware AI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181576"/>
            <a:ext cx="2012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Course Capstone 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0" y="6181576"/>
            <a:ext cx="857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2D3EE"/>
                </a:solidFill>
                <a:latin typeface="Plus Jakarta Sans"/>
              </a:rPr>
              <a:t>Slide 1 of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" y="576262"/>
            <a:ext cx="3429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CAPSTONE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3434506"/>
            <a:ext cx="5143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B82F6"/>
                </a:solidFill>
                <a:latin typeface="Plus Jakarta Sans"/>
              </a:rP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6400" y="3434506"/>
            <a:ext cx="6191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2D3EE"/>
                </a:solidFill>
                <a:latin typeface="Plus Jakarta Sans"/>
              </a:rPr>
              <a:t>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2225" y="3434506"/>
            <a:ext cx="733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Plus Jakarta Sans"/>
              </a:rPr>
              <a:t>LlamaIndex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2350" y="3434506"/>
            <a:ext cx="695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B82F6"/>
                </a:solidFill>
                <a:latin typeface="Plus Jakarta Sans"/>
              </a:rPr>
              <a:t>LangChain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4375" y="3434506"/>
            <a:ext cx="857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2D3EE"/>
                </a:solidFill>
                <a:latin typeface="Plus Jakarta Sans"/>
              </a:rPr>
              <a:t>HuggingFace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8325" y="3434506"/>
            <a:ext cx="600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Plus Jakarta Sans"/>
              </a:rPr>
              <a:t>Groq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4779466"/>
            <a:ext cx="220413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F8FAFC"/>
                </a:solidFill>
                <a:latin typeface="Plus Jakarta Sans"/>
              </a:rPr>
              <a:t>Neha</a:t>
            </a:r>
            <a:r>
              <a:rPr lang="en-IN" sz="3200" b="1" i="0" u="none" dirty="0">
                <a:solidFill>
                  <a:srgbClr val="F8FAFC"/>
                </a:solidFill>
                <a:latin typeface="Plus Jakarta Sans"/>
              </a:rPr>
              <a:t> Bansal </a:t>
            </a:r>
            <a:endParaRPr sz="32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85875" y="4560391"/>
            <a:ext cx="12461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22D3EE"/>
                </a:solidFill>
                <a:latin typeface="Plus Jakarta Sans"/>
              </a:rPr>
              <a:t>PRESENTED 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6748" y="4652693"/>
            <a:ext cx="270612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8FAFC"/>
                </a:solidFill>
                <a:latin typeface="Plus Jakarta Sans"/>
              </a:rPr>
              <a:t>Trainer</a:t>
            </a:r>
            <a:r>
              <a:rPr sz="975" b="1" i="0" u="none" dirty="0">
                <a:solidFill>
                  <a:srgbClr val="F8FAFC"/>
                </a:solidFill>
                <a:latin typeface="Plus Jakarta Sans"/>
              </a:rPr>
              <a:t>: </a:t>
            </a:r>
            <a:r>
              <a:rPr lang="en-IN" b="1" i="0" u="none" dirty="0">
                <a:solidFill>
                  <a:srgbClr val="F8FAFC"/>
                </a:solidFill>
                <a:latin typeface="Plus Jakarta Sans"/>
              </a:rPr>
              <a:t>Mr. </a:t>
            </a:r>
            <a:r>
              <a:rPr b="0" i="0" u="none" dirty="0">
                <a:solidFill>
                  <a:srgbClr val="CBD5E1"/>
                </a:solidFill>
                <a:latin typeface="Plus Jakarta Sans"/>
              </a:rPr>
              <a:t>Anant Verma Sir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2374" y="5059922"/>
            <a:ext cx="34118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8FAFC"/>
                </a:solidFill>
                <a:latin typeface="Plus Jakarta Sans"/>
              </a:rPr>
              <a:t>Institute: 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E&amp;ICT Academy, 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914525"/>
            <a:ext cx="5181600" cy="3505200"/>
          </a:xfrm>
          <a:prstGeom prst="roundRect">
            <a:avLst>
              <a:gd name="adj" fmla="val 4347"/>
            </a:avLst>
          </a:prstGeom>
          <a:solidFill>
            <a:srgbClr val="111B32"/>
          </a:solidFill>
          <a:ln w="9525">
            <a:solidFill>
              <a:srgbClr val="172D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914525"/>
            <a:ext cx="5181600" cy="3505200"/>
          </a:xfrm>
          <a:prstGeom prst="roundRect">
            <a:avLst>
              <a:gd name="adj" fmla="val 4347"/>
            </a:avLst>
          </a:prstGeom>
          <a:solidFill>
            <a:srgbClr val="111B32"/>
          </a:solidFill>
          <a:ln w="9525">
            <a:solidFill>
              <a:srgbClr val="114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6325" y="4667250"/>
            <a:ext cx="4552950" cy="438150"/>
          </a:xfrm>
          <a:prstGeom prst="roundRect">
            <a:avLst>
              <a:gd name="adj" fmla="val 21739"/>
            </a:avLst>
          </a:prstGeom>
          <a:solidFill>
            <a:srgbClr val="23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62725" y="4667250"/>
            <a:ext cx="4552950" cy="438150"/>
          </a:xfrm>
          <a:prstGeom prst="roundRect">
            <a:avLst>
              <a:gd name="adj" fmla="val 21739"/>
            </a:avLst>
          </a:prstGeom>
          <a:solidFill>
            <a:srgbClr val="12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6325" y="4667250"/>
            <a:ext cx="28575" cy="438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62725" y="4667250"/>
            <a:ext cx="28575" cy="4381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222885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222885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3336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233362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2833687"/>
            <a:ext cx="13335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3443287"/>
            <a:ext cx="13335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4052887"/>
            <a:ext cx="13335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833687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148012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462337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776662"/>
            <a:ext cx="114300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-285750" y="6124575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Plus Jakarta Sans"/>
              </a:rPr>
              <a:t>Slide 2 of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76200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Problem Statement &amp; 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533400"/>
            <a:ext cx="184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350" y="4800600"/>
            <a:ext cx="5226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Plus Jakarta Sans"/>
              </a:rPr>
              <a:t>Need: A convenient local assistant for document QA.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0" y="4800600"/>
            <a:ext cx="5226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Plus Jakarta Sans"/>
              </a:rPr>
              <a:t>Outcome: Fast, accurate, context-aware AI answers.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1625" y="2300287"/>
            <a:ext cx="15001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The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3975" y="2800350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Lengthy documents consume excessive manual reading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3975" y="3409950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Traditional keyword search misses contextual and semantic intent.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" y="4019550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General AI models lack access to private user document repositories.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8025" y="2300287"/>
            <a:ext cx="38629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Proposed Solution &amp; Objectives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1325" y="2800350"/>
            <a:ext cx="5400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Upload PDF and TXT documents securely.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1325" y="3114675"/>
            <a:ext cx="5400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Process and chunk text for efficient indexing.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1325" y="3429000"/>
            <a:ext cx="5400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Retrieve relevant passages via semantic search.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1325" y="3743325"/>
            <a:ext cx="5400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Generate grounded answers with source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649688"/>
            <a:ext cx="10668000" cy="819150"/>
          </a:xfrm>
          <a:prstGeom prst="roundRect">
            <a:avLst>
              <a:gd name="adj" fmla="val 13953"/>
            </a:avLst>
          </a:prstGeom>
          <a:solidFill>
            <a:srgbClr val="111B32"/>
          </a:solidFill>
          <a:ln w="9525">
            <a:solidFill>
              <a:srgbClr val="2327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008137"/>
            <a:ext cx="3403550" cy="1843087"/>
          </a:xfrm>
          <a:prstGeom prst="roundRect">
            <a:avLst>
              <a:gd name="adj" fmla="val 7235"/>
            </a:avLst>
          </a:prstGeom>
          <a:solidFill>
            <a:srgbClr val="111B32"/>
          </a:solidFill>
          <a:ln w="9525">
            <a:solidFill>
              <a:srgbClr val="193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008137"/>
            <a:ext cx="3403550" cy="1843087"/>
          </a:xfrm>
          <a:prstGeom prst="roundRect">
            <a:avLst>
              <a:gd name="adj" fmla="val 7235"/>
            </a:avLst>
          </a:prstGeom>
          <a:solidFill>
            <a:srgbClr val="111B32"/>
          </a:solidFill>
          <a:ln w="9525">
            <a:solidFill>
              <a:srgbClr val="12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008137"/>
            <a:ext cx="3403550" cy="1843087"/>
          </a:xfrm>
          <a:prstGeom prst="roundRect">
            <a:avLst>
              <a:gd name="adj" fmla="val 7235"/>
            </a:avLst>
          </a:prstGeom>
          <a:solidFill>
            <a:srgbClr val="111B32"/>
          </a:solidFill>
          <a:ln w="9525">
            <a:solidFill>
              <a:srgbClr val="3A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0125" y="2246262"/>
            <a:ext cx="714375" cy="219075"/>
          </a:xfrm>
          <a:prstGeom prst="roundRect">
            <a:avLst>
              <a:gd name="adj" fmla="val 26086"/>
            </a:avLst>
          </a:prstGeom>
          <a:solidFill>
            <a:srgbClr val="17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32275" y="2246262"/>
            <a:ext cx="733425" cy="219075"/>
          </a:xfrm>
          <a:prstGeom prst="roundRect">
            <a:avLst>
              <a:gd name="adj" fmla="val 26086"/>
            </a:avLst>
          </a:prstGeom>
          <a:solidFill>
            <a:srgbClr val="14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64425" y="2246262"/>
            <a:ext cx="733425" cy="219075"/>
          </a:xfrm>
          <a:prstGeom prst="roundRect">
            <a:avLst>
              <a:gd name="adj" fmla="val 26086"/>
            </a:avLst>
          </a:prstGeom>
          <a:solidFill>
            <a:srgbClr val="282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4849713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33400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237" y="4964013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6925" y="226055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700" y="2260550"/>
            <a:ext cx="1428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651" y="2260550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285750" y="6124426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Plus Jakarta Sans"/>
              </a:rPr>
              <a:t>Slide 3 of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76200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Understanding Retrieval-Augmented Generation (RAG)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533400"/>
            <a:ext cx="168473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CORE AI CONCEPT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725" y="4861173"/>
            <a:ext cx="10582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Plus Jakarta Sans"/>
              </a:rPr>
              <a:t>Why RAG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725" y="5070723"/>
            <a:ext cx="10582275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RAG grounds answers in specific document content, reducing hallucinations and enabling private knowledge QA without expensive model retraining.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2617737"/>
            <a:ext cx="38420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2970162"/>
            <a:ext cx="302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Find document chunks relevant to the user question using vector similarity search.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2275" y="2617737"/>
            <a:ext cx="38420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AUGMENT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275" y="2970162"/>
            <a:ext cx="302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Inject retrieved text passages into the prompt as supporting context for the LLM.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4425" y="2617737"/>
            <a:ext cx="38420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4425" y="2970162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Produce a precise, context-grounded answer using the Groq-hosted language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" y="2284362"/>
            <a:ext cx="619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B82F6"/>
                </a:solidFill>
                <a:latin typeface="Plus Jakarta Sans"/>
              </a:rPr>
              <a:t>STAGE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525" y="2284362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2D3EE"/>
                </a:solidFill>
                <a:latin typeface="Plus Jakarta Sans"/>
              </a:rPr>
              <a:t>STAGE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9675" y="2284362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Plus Jakarta Sans"/>
              </a:rPr>
              <a:t>STAGE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44353"/>
            <a:ext cx="3454300" cy="1146571"/>
          </a:xfrm>
          <a:prstGeom prst="roundRect">
            <a:avLst>
              <a:gd name="adj" fmla="val 9968"/>
            </a:avLst>
          </a:prstGeom>
          <a:solidFill>
            <a:srgbClr val="111B32"/>
          </a:solidFill>
          <a:ln w="9525">
            <a:solidFill>
              <a:srgbClr val="172D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700" y="2444353"/>
            <a:ext cx="3454449" cy="1146571"/>
          </a:xfrm>
          <a:prstGeom prst="roundRect">
            <a:avLst>
              <a:gd name="adj" fmla="val 9968"/>
            </a:avLst>
          </a:prstGeom>
          <a:solidFill>
            <a:srgbClr val="111B32"/>
          </a:solidFill>
          <a:ln w="9525">
            <a:solidFill>
              <a:srgbClr val="114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75550" y="2444353"/>
            <a:ext cx="3454300" cy="1146571"/>
          </a:xfrm>
          <a:prstGeom prst="roundRect">
            <a:avLst>
              <a:gd name="adj" fmla="val 9968"/>
            </a:avLst>
          </a:prstGeom>
          <a:solidFill>
            <a:srgbClr val="111B32"/>
          </a:solidFill>
          <a:ln w="9525">
            <a:solidFill>
              <a:srgbClr val="32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743325"/>
            <a:ext cx="3454300" cy="1146571"/>
          </a:xfrm>
          <a:prstGeom prst="roundRect">
            <a:avLst>
              <a:gd name="adj" fmla="val 9968"/>
            </a:avLst>
          </a:prstGeom>
          <a:solidFill>
            <a:srgbClr val="111B32"/>
          </a:solidFill>
          <a:ln w="9525">
            <a:solidFill>
              <a:srgbClr val="32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68700" y="3743325"/>
            <a:ext cx="3454449" cy="1146571"/>
          </a:xfrm>
          <a:prstGeom prst="roundRect">
            <a:avLst>
              <a:gd name="adj" fmla="val 9968"/>
            </a:avLst>
          </a:prstGeom>
          <a:solidFill>
            <a:srgbClr val="111B32"/>
          </a:solidFill>
          <a:ln w="9525">
            <a:solidFill>
              <a:srgbClr val="114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75550" y="3743325"/>
            <a:ext cx="3454300" cy="1146571"/>
          </a:xfrm>
          <a:prstGeom prst="roundRect">
            <a:avLst>
              <a:gd name="adj" fmla="val 9968"/>
            </a:avLst>
          </a:prstGeom>
          <a:solidFill>
            <a:srgbClr val="111B32"/>
          </a:solidFill>
          <a:ln w="9525">
            <a:solidFill>
              <a:srgbClr val="172D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644378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725" y="2644378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5575" y="2644378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943350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725" y="3943350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5575" y="3943350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225" y="2730103"/>
            <a:ext cx="15240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4925" y="2730103"/>
            <a:ext cx="15240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0825" y="2730103"/>
            <a:ext cx="11430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275" y="4029075"/>
            <a:ext cx="1143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5400" y="4029075"/>
            <a:ext cx="1714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1300" y="4029075"/>
            <a:ext cx="133350" cy="133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-285750" y="6124575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Plus Jakarta Sans"/>
              </a:rPr>
              <a:t>Slide 4 of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76200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System Architecture &amp; Pipeline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533400"/>
            <a:ext cx="1809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TECHNICAL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25" y="3044428"/>
            <a:ext cx="31495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Interactive web interface for document upload and conversational queries.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725" y="3044428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Handles document parsing, text chunking, indexing, and vector retrieval.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5575" y="3044428"/>
            <a:ext cx="31495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Sentence Transformers convert text chunks into dense numerical embeddings.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025" y="4343400"/>
            <a:ext cx="31495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Enables lightning-fast semantic similarity search over document chunks.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725" y="4343400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Manages prompt construction, context formatting, and LLM orchestration.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5575" y="4343400"/>
            <a:ext cx="31495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Provides ultra-fast hosted language model inference for final answer generation.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2075" y="2696765"/>
            <a:ext cx="1200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Streamlit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775" y="2696765"/>
            <a:ext cx="11901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LlamaIndex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5625" y="2696765"/>
            <a:ext cx="13201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HuggingFace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075" y="3995737"/>
            <a:ext cx="129016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Vector Index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8775" y="3995737"/>
            <a:ext cx="11001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LangChain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5625" y="3995737"/>
            <a:ext cx="98012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Groq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710112"/>
            <a:ext cx="10668000" cy="561975"/>
          </a:xfrm>
          <a:prstGeom prst="roundRect">
            <a:avLst>
              <a:gd name="adj" fmla="val 20338"/>
            </a:avLst>
          </a:prstGeom>
          <a:solidFill>
            <a:srgbClr val="111B32"/>
          </a:solidFill>
          <a:ln w="9525">
            <a:solidFill>
              <a:srgbClr val="2327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204739"/>
            <a:ext cx="2011709" cy="1510307"/>
          </a:xfrm>
          <a:prstGeom prst="roundRect">
            <a:avLst>
              <a:gd name="adj" fmla="val 7567"/>
            </a:avLst>
          </a:prstGeom>
          <a:solidFill>
            <a:srgbClr val="111B32"/>
          </a:solidFill>
          <a:ln w="9525">
            <a:solidFill>
              <a:srgbClr val="193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26109" y="2204739"/>
            <a:ext cx="2011709" cy="1510307"/>
          </a:xfrm>
          <a:prstGeom prst="roundRect">
            <a:avLst>
              <a:gd name="adj" fmla="val 7567"/>
            </a:avLst>
          </a:prstGeom>
          <a:solidFill>
            <a:srgbClr val="111B32"/>
          </a:solidFill>
          <a:ln w="9525">
            <a:solidFill>
              <a:srgbClr val="12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90219" y="2204739"/>
            <a:ext cx="2011709" cy="1510307"/>
          </a:xfrm>
          <a:prstGeom prst="roundRect">
            <a:avLst>
              <a:gd name="adj" fmla="val 7567"/>
            </a:avLst>
          </a:prstGeom>
          <a:solidFill>
            <a:srgbClr val="111B32"/>
          </a:solidFill>
          <a:ln w="9525">
            <a:solidFill>
              <a:srgbClr val="3A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54329" y="2204739"/>
            <a:ext cx="2011709" cy="1510307"/>
          </a:xfrm>
          <a:prstGeom prst="roundRect">
            <a:avLst>
              <a:gd name="adj" fmla="val 7567"/>
            </a:avLst>
          </a:prstGeom>
          <a:solidFill>
            <a:srgbClr val="111B32"/>
          </a:solidFill>
          <a:ln w="9525">
            <a:solidFill>
              <a:srgbClr val="193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439" y="2204739"/>
            <a:ext cx="2011709" cy="1510307"/>
          </a:xfrm>
          <a:prstGeom prst="roundRect">
            <a:avLst>
              <a:gd name="adj" fmla="val 7567"/>
            </a:avLst>
          </a:prstGeom>
          <a:solidFill>
            <a:srgbClr val="111B32"/>
          </a:solidFill>
          <a:ln w="9525">
            <a:solidFill>
              <a:srgbClr val="12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3925" y="2433339"/>
            <a:ext cx="466725" cy="180975"/>
          </a:xfrm>
          <a:prstGeom prst="roundRect">
            <a:avLst>
              <a:gd name="adj" fmla="val 21052"/>
            </a:avLst>
          </a:prstGeom>
          <a:solidFill>
            <a:srgbClr val="17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88034" y="2433339"/>
            <a:ext cx="485775" cy="180975"/>
          </a:xfrm>
          <a:prstGeom prst="roundRect">
            <a:avLst>
              <a:gd name="adj" fmla="val 21052"/>
            </a:avLst>
          </a:prstGeom>
          <a:solidFill>
            <a:srgbClr val="14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52144" y="2433339"/>
            <a:ext cx="485775" cy="180975"/>
          </a:xfrm>
          <a:prstGeom prst="roundRect">
            <a:avLst>
              <a:gd name="adj" fmla="val 21052"/>
            </a:avLst>
          </a:prstGeom>
          <a:solidFill>
            <a:srgbClr val="282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16254" y="2433339"/>
            <a:ext cx="485775" cy="180975"/>
          </a:xfrm>
          <a:prstGeom prst="roundRect">
            <a:avLst>
              <a:gd name="adj" fmla="val 21052"/>
            </a:avLst>
          </a:prstGeom>
          <a:solidFill>
            <a:srgbClr val="17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580364" y="2433339"/>
            <a:ext cx="485775" cy="180975"/>
          </a:xfrm>
          <a:prstGeom prst="roundRect">
            <a:avLst>
              <a:gd name="adj" fmla="val 21052"/>
            </a:avLst>
          </a:prstGeom>
          <a:solidFill>
            <a:srgbClr val="14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285750" y="6124277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Plus Jakarta Sans"/>
              </a:rPr>
              <a:t>Slide 5 of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6200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How the Application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891087"/>
            <a:ext cx="828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Example Query: </a:t>
            </a:r>
            <a:r>
              <a:rPr sz="975" b="1" i="0" u="none">
                <a:solidFill>
                  <a:srgbClr val="CBD5E1"/>
                </a:solidFill>
                <a:latin typeface="Plus Jakarta Sans"/>
              </a:rPr>
              <a:t>"What does NLP mean?" → Retrieved Context → "NLP stands for Natural Language Processing..."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533400"/>
            <a:ext cx="2452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STEP-BY-STEP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2461914"/>
            <a:ext cx="4095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B82F6"/>
                </a:solidFill>
                <a:latin typeface="Plus Jakarta Sans"/>
              </a:rPr>
              <a:t>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719089"/>
            <a:ext cx="22153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Upload 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2995314"/>
            <a:ext cx="178310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User uploads one or multiple PDF or TXT files through Streamlit.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4234" y="2461914"/>
            <a:ext cx="428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Plus Jakarta Sans"/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8034" y="2719089"/>
            <a:ext cx="22153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Process &amp; Chunk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8034" y="2995314"/>
            <a:ext cx="178310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LlamaIndex loads content and splits text into manageable chunks.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8344" y="2461914"/>
            <a:ext cx="428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Plus Jakarta Sans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2144" y="2719089"/>
            <a:ext cx="22153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Create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2144" y="2995314"/>
            <a:ext cx="178310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HuggingFace embeddings represent chunks numerically for search.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2454" y="2461914"/>
            <a:ext cx="428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B82F6"/>
                </a:solidFill>
                <a:latin typeface="Plus Jakarta Sans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6254" y="2719089"/>
            <a:ext cx="22153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Retrieve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254" y="2995314"/>
            <a:ext cx="178310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User query matches relevant text passages in the vector index.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564" y="2461914"/>
            <a:ext cx="428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Plus Jakarta Sans"/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0364" y="2719089"/>
            <a:ext cx="22153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Generate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0364" y="2995314"/>
            <a:ext cx="178310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LangChain &amp; Groq generate and display the final grounded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88989"/>
            <a:ext cx="3429000" cy="1182885"/>
          </a:xfrm>
          <a:prstGeom prst="roundRect">
            <a:avLst>
              <a:gd name="adj" fmla="val 11273"/>
            </a:avLst>
          </a:prstGeom>
          <a:solidFill>
            <a:srgbClr val="111B32"/>
          </a:solidFill>
          <a:ln w="9525">
            <a:solidFill>
              <a:srgbClr val="172D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2388989"/>
            <a:ext cx="3429000" cy="1182885"/>
          </a:xfrm>
          <a:prstGeom prst="roundRect">
            <a:avLst>
              <a:gd name="adj" fmla="val 11273"/>
            </a:avLst>
          </a:prstGeom>
          <a:solidFill>
            <a:srgbClr val="111B32"/>
          </a:solidFill>
          <a:ln w="9525">
            <a:solidFill>
              <a:srgbClr val="114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0" y="2388989"/>
            <a:ext cx="3429000" cy="1182885"/>
          </a:xfrm>
          <a:prstGeom prst="roundRect">
            <a:avLst>
              <a:gd name="adj" fmla="val 11273"/>
            </a:avLst>
          </a:prstGeom>
          <a:solidFill>
            <a:srgbClr val="111B32"/>
          </a:solidFill>
          <a:ln w="9525">
            <a:solidFill>
              <a:srgbClr val="32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762375"/>
            <a:ext cx="3429000" cy="1182885"/>
          </a:xfrm>
          <a:prstGeom prst="roundRect">
            <a:avLst>
              <a:gd name="adj" fmla="val 11273"/>
            </a:avLst>
          </a:prstGeom>
          <a:solidFill>
            <a:srgbClr val="111B32"/>
          </a:solidFill>
          <a:ln w="9525">
            <a:solidFill>
              <a:srgbClr val="322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1500" y="3762375"/>
            <a:ext cx="3429000" cy="1182885"/>
          </a:xfrm>
          <a:prstGeom prst="roundRect">
            <a:avLst>
              <a:gd name="adj" fmla="val 11273"/>
            </a:avLst>
          </a:prstGeom>
          <a:solidFill>
            <a:srgbClr val="111B32"/>
          </a:solidFill>
          <a:ln w="9525">
            <a:solidFill>
              <a:srgbClr val="114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0" y="3762375"/>
            <a:ext cx="3429000" cy="1182885"/>
          </a:xfrm>
          <a:prstGeom prst="roundRect">
            <a:avLst>
              <a:gd name="adj" fmla="val 11273"/>
            </a:avLst>
          </a:prstGeom>
          <a:solidFill>
            <a:srgbClr val="111B32"/>
          </a:solidFill>
          <a:ln w="9525">
            <a:solidFill>
              <a:srgbClr val="172D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631876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2631876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125" y="2631876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4005262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4005262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9125" y="4005262"/>
            <a:ext cx="18097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285750" y="6124575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Plus Jakarta Sans"/>
              </a:rPr>
              <a:t>Slide 6 of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76200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Technology Stack &amp;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533400"/>
            <a:ext cx="23514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SOFTWARE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2960489"/>
            <a:ext cx="3048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Main programming language used to build application logic and data pipelines.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2960489"/>
            <a:ext cx="3048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Creates the interactive web application interface with chat and file uploader widgets.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9125" y="2960489"/>
            <a:ext cx="3048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Loads, chunks, indexes, and retrieves document content for semantic matching.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4333875"/>
            <a:ext cx="3048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Sentence Transformers generate numerical text embeddings for similarity search.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4333875"/>
            <a:ext cx="3048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Connects prompt templates, model execution calls, and output parsing.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9125" y="4333875"/>
            <a:ext cx="3048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Provides access to a hosted language model for high-speed answer generation.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400" y="2627114"/>
            <a:ext cx="10601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3475" y="2627114"/>
            <a:ext cx="129016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1550" y="2627114"/>
            <a:ext cx="14601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LLAMAINDEX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3975" y="4000500"/>
            <a:ext cx="17002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HUGGINGFACE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0625" y="4000500"/>
            <a:ext cx="139017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LANGCHAIN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400" y="4000500"/>
            <a:ext cx="122015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GROQ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47962"/>
            <a:ext cx="5219700" cy="1838325"/>
          </a:xfrm>
          <a:prstGeom prst="roundRect">
            <a:avLst>
              <a:gd name="adj" fmla="val 7253"/>
            </a:avLst>
          </a:prstGeom>
          <a:solidFill>
            <a:srgbClr val="111B32"/>
          </a:solidFill>
          <a:ln w="9525">
            <a:solidFill>
              <a:srgbClr val="172D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747962"/>
            <a:ext cx="5219700" cy="1838325"/>
          </a:xfrm>
          <a:prstGeom prst="roundRect">
            <a:avLst>
              <a:gd name="adj" fmla="val 7253"/>
            </a:avLst>
          </a:prstGeom>
          <a:solidFill>
            <a:srgbClr val="111B32"/>
          </a:solidFill>
          <a:ln w="9525">
            <a:solidFill>
              <a:srgbClr val="114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1714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3024187"/>
            <a:ext cx="361950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3024187"/>
            <a:ext cx="36195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3128962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3128962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3567112"/>
            <a:ext cx="10477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3862387"/>
            <a:ext cx="10477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4157662"/>
            <a:ext cx="1047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567112"/>
            <a:ext cx="1047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862387"/>
            <a:ext cx="1047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4157662"/>
            <a:ext cx="104775" cy="123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285750" y="6124575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Plus Jakarta Sans"/>
              </a:rPr>
              <a:t>Slide 7 of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76200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Application Features &amp; Demo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533400"/>
            <a:ext cx="201810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CAPABILITIES &amp;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4475" y="3095625"/>
            <a:ext cx="2000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Document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3538537"/>
            <a:ext cx="5634037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Supports PDF and TXT file uploads.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3833812"/>
            <a:ext cx="5634037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Ability to upload multiple documents simultaneously.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50" y="4129087"/>
            <a:ext cx="5634037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Automatic document loading and chunking.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2775" y="3095625"/>
            <a:ext cx="296287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Interactive Chat &amp;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6550" y="3538537"/>
            <a:ext cx="5505450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Semantic retrieval matching user questions to passages.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6550" y="3833812"/>
            <a:ext cx="5505450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Context-based answer generation via Groq.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129087"/>
            <a:ext cx="5505450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Retrieved context and source information displayed clearly.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14575"/>
            <a:ext cx="5181600" cy="2705100"/>
          </a:xfrm>
          <a:prstGeom prst="roundRect">
            <a:avLst>
              <a:gd name="adj" fmla="val 5633"/>
            </a:avLst>
          </a:prstGeom>
          <a:solidFill>
            <a:srgbClr val="111B32"/>
          </a:solidFill>
          <a:ln w="9525">
            <a:solidFill>
              <a:srgbClr val="114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314575"/>
            <a:ext cx="5181600" cy="2705100"/>
          </a:xfrm>
          <a:prstGeom prst="roundRect">
            <a:avLst>
              <a:gd name="adj" fmla="val 5633"/>
            </a:avLst>
          </a:prstGeom>
          <a:solidFill>
            <a:srgbClr val="111B32"/>
          </a:solidFill>
          <a:ln w="9525">
            <a:solidFill>
              <a:srgbClr val="441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262890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262890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73367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273367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323850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379095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434340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238500"/>
            <a:ext cx="1047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590925"/>
            <a:ext cx="1047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943350"/>
            <a:ext cx="10477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-285750" y="6124575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Plus Jakarta Sans"/>
              </a:rPr>
              <a:t>Slide 8 of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76200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Advantages &amp;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533400"/>
            <a:ext cx="20419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CRITICAL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625" y="2700337"/>
            <a:ext cx="147018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Advantages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4450" y="3200400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Fast information retrieval from large documents without manual reading.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50" y="3752850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Grounds AI answers in real document context, reducing hallucinations.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50" y="4305300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Clean, intuitive Streamlit web interface for easy user interaction.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8025" y="2700337"/>
            <a:ext cx="13701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3200400"/>
            <a:ext cx="541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Retrieval quality depends directly on optimal text chunk size.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800" y="3552825"/>
            <a:ext cx="541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Dependent on external Groq API availability and rate limits.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800" y="3905250"/>
            <a:ext cx="4429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Complex scanned PDFs with images require OCR preprocessing.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8769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876925"/>
            <a:ext cx="10668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890962"/>
            <a:ext cx="4114800" cy="504825"/>
          </a:xfrm>
          <a:prstGeom prst="roundRect">
            <a:avLst>
              <a:gd name="adj" fmla="val 22641"/>
            </a:avLst>
          </a:prstGeom>
          <a:solidFill>
            <a:srgbClr val="10293D"/>
          </a:solidFill>
          <a:ln w="9525">
            <a:solidFill>
              <a:srgbClr val="144F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609600"/>
            <a:ext cx="20835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2D3EE"/>
                </a:solidFill>
                <a:latin typeface="Plus Jakarta Sans"/>
              </a:rPr>
              <a:t>PROJECT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43137"/>
            <a:ext cx="11251406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Plus Jakarta Sans"/>
              </a:rPr>
              <a:t>Conclusion &amp;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14662"/>
            <a:ext cx="8667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Successfully built and demonstrated a robust RAG-based document assistant combining Python, Streamlit, LlamaIndex, LangChain, HuggingFace, and Groq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6950"/>
            <a:ext cx="1833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Thank You for Your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0" y="6076950"/>
            <a:ext cx="952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D3EE"/>
                </a:solidFill>
                <a:latin typeface="Plus Jakarta Sans"/>
              </a:rPr>
              <a:t>Slide 9 of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052887"/>
            <a:ext cx="4548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Ready for Live Demonstration &amp; Evaluator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691</Words>
  <Application>Microsoft Office PowerPoint</Application>
  <PresentationFormat>Widescreen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nehag</dc:creator>
  <cp:keywords/>
  <dc:description>generated using python-pptx</dc:description>
  <cp:lastModifiedBy>nehaguptarke6@gmail.com</cp:lastModifiedBy>
  <cp:revision>2</cp:revision>
  <dcterms:created xsi:type="dcterms:W3CDTF">2013-01-27T09:14:16Z</dcterms:created>
  <dcterms:modified xsi:type="dcterms:W3CDTF">2026-10-14T16:57:58Z</dcterms:modified>
  <cp:category/>
</cp:coreProperties>
</file>